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ir_motif_gol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138160" y="2377440"/>
            <a:ext cx="4754880" cy="3566160"/>
          </a:xfrm>
          <a:prstGeom prst="rect">
            <a:avLst/>
          </a:prstGeom>
        </p:spPr>
      </p:pic>
      <p:pic>
        <p:nvPicPr>
          <p:cNvPr id="3" name="Image 1" descr="/mnt/user-data/uploads/Laums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868680" cy="859536"/>
          </a:xfrm>
          <a:prstGeom prst="rect">
            <a:avLst/>
          </a:prstGeom>
        </p:spPr>
      </p:pic>
      <p:pic>
        <p:nvPicPr>
          <p:cNvPr id="4" name="Image 2" descr="tap_logo_cuto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566928"/>
            <a:ext cx="1554480" cy="81838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C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LADOKE AKINTOLA UNIVERSITY MEDICAL STUDENTS' ASSOCIATION</a:t>
            </a:r>
            <a:endParaRPr lang="en-US" sz="1300" dirty="0"/>
          </a:p>
        </p:txBody>
      </p:sp>
      <p:sp>
        <p:nvSpPr>
          <p:cNvPr id="6" name="Text 1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pPr algn="ctr" indent="0" marL="0">
              <a:buNone/>
            </a:pPr>
            <a:r>
              <a:rPr lang="en-US" sz="6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</a:t>
            </a:r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MANDATE</a:t>
            </a:r>
            <a:endParaRPr lang="en-US" sz="6000" dirty="0"/>
          </a:p>
        </p:txBody>
      </p:sp>
      <p:sp>
        <p:nvSpPr>
          <p:cNvPr id="7" name="Text 2"/>
          <p:cNvSpPr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10 Core Pillars</a:t>
            </a:r>
            <a:endParaRPr lang="en-US" sz="2400" dirty="0"/>
          </a:p>
        </p:txBody>
      </p:sp>
      <p:sp>
        <p:nvSpPr>
          <p:cNvPr id="8" name="Shape 3"/>
          <p:cNvSpPr/>
          <p:nvPr/>
        </p:nvSpPr>
        <p:spPr>
          <a:xfrm>
            <a:off x="5394960" y="4251960"/>
            <a:ext cx="1371600" cy="0"/>
          </a:xfrm>
          <a:prstGeom prst="line">
            <a:avLst/>
          </a:prstGeom>
          <a:noFill/>
          <a:ln w="19050">
            <a:solidFill>
              <a:srgbClr val="6E1B24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22960" y="44348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Oluwadolapo Popoola (TOP)</a:t>
            </a:r>
            <a:endParaRPr lang="en-US" sz="2600" dirty="0"/>
          </a:p>
        </p:txBody>
      </p:sp>
      <p:sp>
        <p:nvSpPr>
          <p:cNvPr id="10" name="Text 5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</a:t>
            </a:r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 of President (TOP)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1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4000" dirty="0"/>
          </a:p>
        </p:txBody>
      </p:sp>
      <p:pic>
        <p:nvPicPr>
          <p:cNvPr id="4" name="Image 0" descr="tap_logo_cut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1455" y="594360"/>
            <a:ext cx="1371600" cy="7223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" y="2263140"/>
            <a:ext cx="777240" cy="777240"/>
          </a:xfrm>
          <a:prstGeom prst="ellipse">
            <a:avLst/>
          </a:prstGeom>
          <a:solidFill>
            <a:srgbClr val="6E1B24"/>
          </a:solidFill>
          <a:ln/>
          <a:effectLst>
            <a:outerShdw sx="100000" sy="100000" kx="0" ky="0" algn="bl" rotWithShape="0" blurRad="101600" dist="38100" dir="5400000">
              <a:srgbClr val="1A0D0D">
                <a:alpha val="35000"/>
              </a:srgbClr>
            </a:outerShdw>
          </a:effectLst>
        </p:spPr>
      </p:sp>
      <p:pic>
        <p:nvPicPr>
          <p:cNvPr id="6" name="Image 1" descr="icon_partnershi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457450"/>
            <a:ext cx="388620" cy="3886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65960" y="2286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1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Secretary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965960" y="27249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LAUMSA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86384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8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– 2023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1965960" y="3383280"/>
            <a:ext cx="9464040" cy="0"/>
          </a:xfrm>
          <a:prstGeom prst="line">
            <a:avLst/>
          </a:prstGeom>
          <a:noFill/>
          <a:ln w="12700">
            <a:solidFill>
              <a:srgbClr val="E3D6C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45820" y="3497580"/>
            <a:ext cx="777240" cy="777240"/>
          </a:xfrm>
          <a:prstGeom prst="ellipse">
            <a:avLst/>
          </a:prstGeom>
          <a:solidFill>
            <a:srgbClr val="6E1B24"/>
          </a:solidFill>
          <a:ln/>
          <a:effectLst>
            <a:outerShdw sx="100000" sy="100000" kx="0" ky="0" algn="bl" rotWithShape="0" blurRad="101600" dist="38100" dir="5400000">
              <a:srgbClr val="1A0D0D">
                <a:alpha val="35000"/>
              </a:srgbClr>
            </a:outerShdw>
          </a:effectLst>
        </p:spPr>
      </p:sp>
      <p:pic>
        <p:nvPicPr>
          <p:cNvPr id="12" name="Image 2" descr="icon_partnership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3691890"/>
            <a:ext cx="388620" cy="3886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65960" y="3520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1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 General Secretary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1965960" y="395935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LAUMSA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863840" y="3657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8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2024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1965960" y="4617720"/>
            <a:ext cx="9464040" cy="0"/>
          </a:xfrm>
          <a:prstGeom prst="line">
            <a:avLst/>
          </a:prstGeom>
          <a:noFill/>
          <a:ln w="12700">
            <a:solidFill>
              <a:srgbClr val="E3D6C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45820" y="4732020"/>
            <a:ext cx="777240" cy="777240"/>
          </a:xfrm>
          <a:prstGeom prst="ellipse">
            <a:avLst/>
          </a:prstGeom>
          <a:solidFill>
            <a:srgbClr val="6E1B24"/>
          </a:solidFill>
          <a:ln/>
          <a:effectLst>
            <a:outerShdw sx="100000" sy="100000" kx="0" ky="0" algn="bl" rotWithShape="0" blurRad="101600" dist="38100" dir="5400000">
              <a:srgbClr val="1A0D0D">
                <a:alpha val="35000"/>
              </a:srgbClr>
            </a:outerShdw>
          </a:effectLst>
        </p:spPr>
      </p:sp>
      <p:pic>
        <p:nvPicPr>
          <p:cNvPr id="18" name="Image 3" descr="icon_partnership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4926330"/>
            <a:ext cx="388620" cy="3886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754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1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Ambassador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1965960" y="519379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Assembly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863840" y="4892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8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Present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ir_motif_gol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9692640" y="-822960"/>
            <a:ext cx="3291840" cy="2468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10 solid core pillars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22960" y="19659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6800" dirty="0"/>
          </a:p>
        </p:txBody>
      </p:sp>
      <p:sp>
        <p:nvSpPr>
          <p:cNvPr id="6" name="Text 3"/>
          <p:cNvSpPr/>
          <p:nvPr/>
        </p:nvSpPr>
        <p:spPr>
          <a:xfrm>
            <a:off x="822960" y="29260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344728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the Association by transforming LAUMSAites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0" y="19659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6800" dirty="0"/>
          </a:p>
        </p:txBody>
      </p:sp>
      <p:sp>
        <p:nvSpPr>
          <p:cNvPr id="9" name="Text 6"/>
          <p:cNvSpPr/>
          <p:nvPr/>
        </p:nvSpPr>
        <p:spPr>
          <a:xfrm>
            <a:off x="4572000" y="29260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 &amp; Coordinate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72000" y="344728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and coordinate a safe community that feels like home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321040" y="19659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6800" dirty="0"/>
          </a:p>
        </p:txBody>
      </p:sp>
      <p:sp>
        <p:nvSpPr>
          <p:cNvPr id="12" name="Text 9"/>
          <p:cNvSpPr/>
          <p:nvPr/>
        </p:nvSpPr>
        <p:spPr>
          <a:xfrm>
            <a:off x="8321040" y="29260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Proficiency &amp; Multi-dimensional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321040" y="344728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proficient, multi-dimensional members of the Association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507492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6E1B24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23036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  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43000" y="550468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make each LAUMSAite self-sufficient enough to get LAUMSA to the TOP.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1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CORE PILLARS</a:t>
            </a:r>
            <a:pPr indent="0" marL="0">
              <a:buNone/>
            </a:pPr>
            <a:r>
              <a:rPr lang="en-US" sz="1250" spc="150" kern="0" dirty="0">
                <a:solidFill>
                  <a:srgbClr val="9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PILLAR 01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1371600"/>
          </a:xfrm>
          <a:prstGeom prst="ellipse">
            <a:avLst/>
          </a:prstGeom>
          <a:solidFill>
            <a:srgbClr val="6E1B24"/>
          </a:solidFill>
          <a:ln/>
          <a:effectLst>
            <a:outerShdw sx="100000" sy="100000" kx="0" ky="0" algn="bl" rotWithShape="0" blurRad="101600" dist="38100" dir="5400000">
              <a:srgbClr val="1A0D0D">
                <a:alpha val="35000"/>
              </a:srgbClr>
            </a:outerShdw>
          </a:effectLst>
        </p:spPr>
      </p:sp>
      <p:pic>
        <p:nvPicPr>
          <p:cNvPr id="4" name="Image 0" descr="icon_inclusive_commun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3487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114300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Inclusive Community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Revive all dormant societies and committees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Congress accordingly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visits to LAUMSAites for welfare check-ins and conversations about their needs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the Welfare Director's office to ensure the Welfare Committee takes welfare seriously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263640" y="288036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Executives on their promises and responsibilities, with the General Secretary's office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feedback system for reviews, comments and feedback from LAUMSAites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and community-driven bonding events with the Social Director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1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CORE PILLARS</a:t>
            </a:r>
            <a:pPr indent="0" marL="0">
              <a:buNone/>
            </a:pPr>
            <a:r>
              <a:rPr lang="en-US" sz="1250" spc="150" kern="0" dirty="0">
                <a:solidFill>
                  <a:srgbClr val="9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PILLAR 02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9555480" y="1005840"/>
            <a:ext cx="1371600" cy="1371600"/>
          </a:xfrm>
          <a:prstGeom prst="ellipse">
            <a:avLst/>
          </a:prstGeom>
          <a:solidFill>
            <a:srgbClr val="6E1B24"/>
          </a:solidFill>
          <a:ln/>
          <a:effectLst>
            <a:outerShdw sx="100000" sy="100000" kx="0" ky="0" algn="bl" rotWithShape="0" blurRad="101600" dist="38100" dir="5400000">
              <a:srgbClr val="1A0D0D">
                <a:alpha val="35000"/>
              </a:srgbClr>
            </a:outerShdw>
          </a:effectLst>
        </p:spPr>
      </p:sp>
      <p:pic>
        <p:nvPicPr>
          <p:cNvPr id="4" name="Image 0" descr="icon_revenue_gen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380" y="13487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4300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Generation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10515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6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“Operation Raise Funds” under the Office of the Presidency</a:t>
            </a:r>
            <a:endParaRPr lang="en-US" sz="16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6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resources and funding during courtesy visits to State Officials</a:t>
            </a:r>
            <a:endParaRPr lang="en-US" sz="16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6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partnerships with businesses as a revenue stream</a:t>
            </a:r>
            <a:endParaRPr lang="en-US" sz="16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6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Association merchandise as a revenue stream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1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CORE PILLARS</a:t>
            </a:r>
            <a:pPr indent="0" marL="0">
              <a:buNone/>
            </a:pPr>
            <a:r>
              <a:rPr lang="en-US" sz="1250" spc="150" kern="0" dirty="0">
                <a:solidFill>
                  <a:srgbClr val="9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PILLAR 03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1371600"/>
          </a:xfrm>
          <a:prstGeom prst="ellipse">
            <a:avLst/>
          </a:prstGeom>
          <a:solidFill>
            <a:srgbClr val="6E1B24"/>
          </a:solidFill>
          <a:ln/>
          <a:effectLst>
            <a:outerShdw sx="100000" sy="100000" kx="0" ky="0" algn="bl" rotWithShape="0" blurRad="101600" dist="38100" dir="5400000">
              <a:srgbClr val="1A0D0D">
                <a:alpha val="35000"/>
              </a:srgbClr>
            </a:outerShdw>
          </a:effectLst>
        </p:spPr>
      </p:sp>
      <p:pic>
        <p:nvPicPr>
          <p:cNvPr id="4" name="Image 0" descr="icon_academic_develop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3487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114300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Development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VP1 and VP2 to oversee academic welfarism across Medical School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tutorials with the best tutors, in the best learning environment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Faculty regarding the Simulation Centre on Main Campus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263640" y="288036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videographer LAUMSAites the opportunity to record tutorials for the Drive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academic calendar with the Time-Table Committee for accountability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improving the existing academic resource Drive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1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CORE PILLARS</a:t>
            </a:r>
            <a:pPr indent="0" marL="0">
              <a:buNone/>
            </a:pPr>
            <a:r>
              <a:rPr lang="en-US" sz="1250" spc="150" kern="0" dirty="0">
                <a:solidFill>
                  <a:srgbClr val="9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PILLAR 04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9555480" y="1005840"/>
            <a:ext cx="1371600" cy="1371600"/>
          </a:xfrm>
          <a:prstGeom prst="ellipse">
            <a:avLst/>
          </a:prstGeom>
          <a:solidFill>
            <a:srgbClr val="6E1B24"/>
          </a:solidFill>
          <a:ln/>
          <a:effectLst>
            <a:outerShdw sx="100000" sy="100000" kx="0" ky="0" algn="bl" rotWithShape="0" blurRad="101600" dist="38100" dir="5400000">
              <a:srgbClr val="1A0D0D">
                <a:alpha val="35000"/>
              </a:srgbClr>
            </a:outerShdw>
          </a:effectLst>
        </p:spPr>
      </p:sp>
      <p:pic>
        <p:nvPicPr>
          <p:cNvPr id="4" name="Image 0" descr="icon_research_develop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380" y="13487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4300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Development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10515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6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 members with research knowledge that aligns with JAPA and Nigeria pathways</a:t>
            </a:r>
            <a:endParaRPr lang="en-US" sz="16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6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 VP2 on monthly research classes for pre-clinical classes, with LAUMSAites and the LAUMED Journal Club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1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CORE PILLARS</a:t>
            </a:r>
            <a:pPr indent="0" marL="0">
              <a:buNone/>
            </a:pPr>
            <a:r>
              <a:rPr lang="en-US" sz="1250" spc="150" kern="0" dirty="0">
                <a:solidFill>
                  <a:srgbClr val="9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PILLAR 05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1371600"/>
          </a:xfrm>
          <a:prstGeom prst="ellipse">
            <a:avLst/>
          </a:prstGeom>
          <a:solidFill>
            <a:srgbClr val="6E1B24"/>
          </a:solidFill>
          <a:ln/>
          <a:effectLst>
            <a:outerShdw sx="100000" sy="100000" kx="0" ky="0" algn="bl" rotWithShape="0" blurRad="101600" dist="38100" dir="5400000">
              <a:srgbClr val="1A0D0D">
                <a:alpha val="35000"/>
              </a:srgbClr>
            </a:outerShdw>
          </a:effectLst>
        </p:spPr>
      </p:sp>
      <p:pic>
        <p:nvPicPr>
          <p:cNvPr id="4" name="Image 0" descr="icon_scholarship_care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3487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114300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Scholarship &amp; Career Development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10515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6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Scholarship &amp; Career Opportunities Committee to bring opportunities closer to LAUMSAites</a:t>
            </a:r>
            <a:endParaRPr lang="en-US" sz="16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6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virtual and physical workshops and programs</a:t>
            </a:r>
            <a:endParaRPr lang="en-US" sz="16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6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a major Leadership Summit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1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CORE PILLARS</a:t>
            </a:r>
            <a:pPr indent="0" marL="0">
              <a:buNone/>
            </a:pPr>
            <a:r>
              <a:rPr lang="en-US" sz="1250" spc="150" kern="0" dirty="0">
                <a:solidFill>
                  <a:srgbClr val="9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PILLAR 06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9555480" y="1005840"/>
            <a:ext cx="1371600" cy="1371600"/>
          </a:xfrm>
          <a:prstGeom prst="ellipse">
            <a:avLst/>
          </a:prstGeom>
          <a:solidFill>
            <a:srgbClr val="6E1B24"/>
          </a:solidFill>
          <a:ln/>
          <a:effectLst>
            <a:outerShdw sx="100000" sy="100000" kx="0" ky="0" algn="bl" rotWithShape="0" blurRad="101600" dist="38100" dir="5400000">
              <a:srgbClr val="1A0D0D">
                <a:alpha val="35000"/>
              </a:srgbClr>
            </a:outerShdw>
          </a:effectLst>
        </p:spPr>
      </p:sp>
      <p:pic>
        <p:nvPicPr>
          <p:cNvPr id="4" name="Image 0" descr="icon_association_outl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380" y="13487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4300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 Outlook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an Association Secretariat where members can interact with LAUMSA history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LAUMSAites an Association to be proud of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Rebrand the Association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263640" y="288036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official LAUMSA website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ID cards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branded materials and merch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1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CORE PILLARS</a:t>
            </a:r>
            <a:pPr indent="0" marL="0">
              <a:buNone/>
            </a:pPr>
            <a:r>
              <a:rPr lang="en-US" sz="1250" spc="150" kern="0" dirty="0">
                <a:solidFill>
                  <a:srgbClr val="9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PILLAR 07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1371600"/>
          </a:xfrm>
          <a:prstGeom prst="ellipse">
            <a:avLst/>
          </a:prstGeom>
          <a:solidFill>
            <a:srgbClr val="6E1B24"/>
          </a:solidFill>
          <a:ln/>
          <a:effectLst>
            <a:outerShdw sx="100000" sy="100000" kx="0" ky="0" algn="bl" rotWithShape="0" blurRad="101600" dist="38100" dir="5400000">
              <a:srgbClr val="1A0D0D">
                <a:alpha val="35000"/>
              </a:srgbClr>
            </a:outerShdw>
          </a:effectLst>
        </p:spPr>
      </p:sp>
      <p:pic>
        <p:nvPicPr>
          <p:cNvPr id="4" name="Image 0" descr="icon_welfari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3487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114300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Adequate Welfarism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10515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6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the Department of Psychiatry to support LAUMSAites needing a therapist</a:t>
            </a:r>
            <a:endParaRPr lang="en-US" sz="16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6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Adequately provide for sport events</a:t>
            </a:r>
            <a:endParaRPr lang="en-US" sz="16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6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communities such as the 6amRunClub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1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CORE PILLARS</a:t>
            </a:r>
            <a:pPr indent="0" marL="0">
              <a:buNone/>
            </a:pPr>
            <a:r>
              <a:rPr lang="en-US" sz="1250" spc="150" kern="0" dirty="0">
                <a:solidFill>
                  <a:srgbClr val="9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PILLAR 08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9555480" y="1005840"/>
            <a:ext cx="1371600" cy="1371600"/>
          </a:xfrm>
          <a:prstGeom prst="ellipse">
            <a:avLst/>
          </a:prstGeom>
          <a:solidFill>
            <a:srgbClr val="6E1B24"/>
          </a:solidFill>
          <a:ln/>
          <a:effectLst>
            <a:outerShdw sx="100000" sy="100000" kx="0" ky="0" algn="bl" rotWithShape="0" blurRad="101600" dist="38100" dir="5400000">
              <a:srgbClr val="1A0D0D">
                <a:alpha val="35000"/>
              </a:srgbClr>
            </a:outerShdw>
          </a:effectLst>
        </p:spPr>
      </p:sp>
      <p:pic>
        <p:nvPicPr>
          <p:cNvPr id="4" name="Image 0" descr="icon_fair_represen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380" y="13487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4300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Representation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100" kern="0" dirty="0">
                <a:solidFill>
                  <a:srgbClr val="C1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LAUMSA, NIMSA, FAMSA &amp; IFMSA LEVELS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10515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6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equal opportunity for interested LAUMSAites based on experience and capacity</a:t>
            </a:r>
            <a:endParaRPr lang="en-US" sz="16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6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webinar with LAUMSA veterans who've held these positions, sharing insight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1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CORE PILLARS</a:t>
            </a:r>
            <a:pPr indent="0" marL="0">
              <a:buNone/>
            </a:pPr>
            <a:r>
              <a:rPr lang="en-US" sz="1250" spc="150" kern="0" dirty="0">
                <a:solidFill>
                  <a:srgbClr val="9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PILLAR 09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1371600"/>
          </a:xfrm>
          <a:prstGeom prst="ellipse">
            <a:avLst/>
          </a:prstGeom>
          <a:solidFill>
            <a:srgbClr val="6E1B24"/>
          </a:solidFill>
          <a:ln/>
          <a:effectLst>
            <a:outerShdw sx="100000" sy="100000" kx="0" ky="0" algn="bl" rotWithShape="0" blurRad="101600" dist="38100" dir="5400000">
              <a:srgbClr val="1A0D0D">
                <a:alpha val="35000"/>
              </a:srgbClr>
            </a:outerShdw>
          </a:effectLst>
        </p:spPr>
      </p:sp>
      <p:pic>
        <p:nvPicPr>
          <p:cNvPr id="4" name="Image 0" descr="icon_partnershi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3487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114300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Partnerships &amp; Sponsorships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10515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6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our collective network to secure partnerships and collaborations, and sponsorships from State Officials, companies and organizations</a:t>
            </a:r>
            <a:endParaRPr lang="en-US" sz="16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6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partnerships with neighboring MSAs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1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CORE PILLARS</a:t>
            </a:r>
            <a:pPr indent="0" marL="0">
              <a:buNone/>
            </a:pPr>
            <a:r>
              <a:rPr lang="en-US" sz="1250" spc="150" kern="0" dirty="0">
                <a:solidFill>
                  <a:srgbClr val="9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PILLAR 10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9555480" y="1005840"/>
            <a:ext cx="1371600" cy="1371600"/>
          </a:xfrm>
          <a:prstGeom prst="ellipse">
            <a:avLst/>
          </a:prstGeom>
          <a:solidFill>
            <a:srgbClr val="6E1B24"/>
          </a:solidFill>
          <a:ln/>
          <a:effectLst>
            <a:outerShdw sx="100000" sy="100000" kx="0" ky="0" algn="bl" rotWithShape="0" blurRad="101600" dist="38100" dir="5400000">
              <a:srgbClr val="1A0D0D">
                <a:alpha val="35000"/>
              </a:srgbClr>
            </a:outerShdw>
          </a:effectLst>
        </p:spPr>
      </p:sp>
      <p:pic>
        <p:nvPicPr>
          <p:cNvPr id="4" name="Image 0" descr="icon_alum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380" y="13487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4300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Alumni Relationship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10515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6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LAUMSA Alumni Relations &amp; Advancement Committee (LARAC)</a:t>
            </a:r>
            <a:endParaRPr lang="en-US" sz="16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6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Alumni database for continuity</a:t>
            </a:r>
            <a:endParaRPr lang="en-US" sz="16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sz="1650" dirty="0">
                <a:solidFill>
                  <a:srgbClr val="2A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quarterly webinar with Alumni guests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ir_motif_gol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457200" y="320040"/>
            <a:ext cx="1920240" cy="14401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invitation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sit with me</a:t>
            </a:r>
            <a:endParaRPr lang="en-US" sz="4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the </a:t>
            </a:r>
            <a:endParaRPr lang="en-US" sz="4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1737360" y="41605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an official invitation and appeal to every LAUMSAite: cast your vote for TOP.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737360" y="47091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vision is better and brighter when we're all sat at the TOP —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let's take LAUMSA to the TOP.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37360" y="5669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very much.</a:t>
            </a:r>
            <a:endParaRPr lang="en-US" sz="1800" dirty="0"/>
          </a:p>
        </p:txBody>
      </p:sp>
      <p:pic>
        <p:nvPicPr>
          <p:cNvPr id="8" name="Image 1" descr="/mnt/user-data/uploads/Laums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408" y="6263640"/>
            <a:ext cx="502920" cy="502920"/>
          </a:xfrm>
          <a:prstGeom prst="rect">
            <a:avLst/>
          </a:prstGeom>
        </p:spPr>
      </p:pic>
      <p:pic>
        <p:nvPicPr>
          <p:cNvPr id="9" name="Image 2" descr="tap_logo_cuto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6309360"/>
            <a:ext cx="822960" cy="4297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2026-08-17T07:34:39Z</dcterms:created>
  <dcterms:modified xsi:type="dcterms:W3CDTF">2026-08-17T07:34:39Z</dcterms:modified>
</cp:coreProperties>
</file>